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54864" cy="457200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5029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spc="1000" kern="0" dirty="0">
                <a:solidFill>
                  <a:srgbClr val="F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OBSYRIA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777240" y="23042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MARKET INTELLIGENCE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852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 ·  University Project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255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[Your Names Here]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840480"/>
            <a:ext cx="1783080" cy="822960"/>
          </a:xfrm>
          <a:prstGeom prst="rect">
            <a:avLst/>
          </a:prstGeom>
          <a:solidFill>
            <a:srgbClr val="191919"/>
          </a:solidFill>
          <a:ln w="12700">
            <a:solidFill>
              <a:srgbClr val="F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8587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4297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GAMES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0" y="3840480"/>
            <a:ext cx="1783080" cy="822960"/>
          </a:xfrm>
          <a:prstGeom prst="rect">
            <a:avLst/>
          </a:prstGeom>
          <a:solidFill>
            <a:srgbClr val="191919"/>
          </a:solidFill>
          <a:ln w="12700">
            <a:solidFill>
              <a:srgbClr val="F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38587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0" y="4297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9160" y="3840480"/>
            <a:ext cx="1783080" cy="822960"/>
          </a:xfrm>
          <a:prstGeom prst="rect">
            <a:avLst/>
          </a:prstGeom>
          <a:solidFill>
            <a:srgbClr val="191919"/>
          </a:solidFill>
          <a:ln w="12700">
            <a:solidFill>
              <a:srgbClr val="F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38587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4297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75120" y="3840480"/>
            <a:ext cx="1783080" cy="822960"/>
          </a:xfrm>
          <a:prstGeom prst="rect">
            <a:avLst/>
          </a:prstGeom>
          <a:solidFill>
            <a:srgbClr val="191919"/>
          </a:solidFill>
          <a:ln w="12700">
            <a:solidFill>
              <a:srgbClr val="F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38587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LIVE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75120" y="4297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4572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OBSYRIA exists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4160520" cy="178308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78992"/>
            <a:ext cx="54864" cy="178308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8872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Centralized Analytics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1581912"/>
            <a:ext cx="374904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673352"/>
            <a:ext cx="3858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gaming industry lacks a unified platform for cross-platform data aggregation and market analysis at scale.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78992"/>
            <a:ext cx="4160520" cy="178308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78992"/>
            <a:ext cx="54864" cy="178308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18872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ROI Invisibility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19472" y="1581912"/>
            <a:ext cx="374904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673352"/>
            <a:ext cx="3858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 have no standardized way to measure return on investment across different storefronts and regions.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44952"/>
            <a:ext cx="4160520" cy="178308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44952"/>
            <a:ext cx="54864" cy="178308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15468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Tier Classification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0352" y="3547872"/>
            <a:ext cx="374904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639312"/>
            <a:ext cx="3858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established system for dynamically classifying games as Indie, AA, or AAA based on objective weighted metrics.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044952"/>
            <a:ext cx="4160520" cy="178308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044952"/>
            <a:ext cx="54864" cy="178308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15468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Fragmented Research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19472" y="3547872"/>
            <a:ext cx="374904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639312"/>
            <a:ext cx="3858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is slow, manual, and siloed — requiring analysts to visit multiple sources with inconsistent, unreliable data.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4572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OBSYRIA is designed to achieve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8412480" cy="694944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78992"/>
            <a:ext cx="640080" cy="69494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78992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133856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normalized relational database from real Steam Top 100 data using SteamSpy &amp; Steam Store APIs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865376"/>
            <a:ext cx="8412480" cy="694944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65376"/>
            <a:ext cx="640080" cy="694944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65376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1920240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game ROI using a custom SQL scalar function — DETERMINISTIC, production-grade logic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8412480" cy="694944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51760"/>
            <a:ext cx="640080" cy="69494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51760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2706624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classify games into Indie / AA / AAA tiers via a weighted multi-factor stored procedure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438144"/>
            <a:ext cx="8412480" cy="694944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38144"/>
            <a:ext cx="640080" cy="694944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38144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3493008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pricing across 5 platforms — Steam, Epic Games, PlayStation 5, Xbox, and Nintendo Switch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224528"/>
            <a:ext cx="8412480" cy="694944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224528"/>
            <a:ext cx="640080" cy="69494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24528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4279392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all analytics through a live web dashboard with real-time SQL execution and visual feedback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4572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Application Stack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2697480" cy="3383280"/>
          </a:xfrm>
          <a:prstGeom prst="rect">
            <a:avLst/>
          </a:prstGeom>
          <a:solidFill>
            <a:srgbClr val="191919"/>
          </a:solidFill>
          <a:ln w="25400">
            <a:solidFill>
              <a:srgbClr val="44FF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2697480" cy="475488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HTML / CSS / JavaScript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258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Dark-themed Dashboard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 Pages: Dashboard, Hub,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4472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Tier Classifier, Registration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2651760"/>
            <a:ext cx="137160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051560"/>
            <a:ext cx="2697480" cy="3383280"/>
          </a:xfrm>
          <a:prstGeom prst="rect">
            <a:avLst/>
          </a:prstGeom>
          <a:solidFill>
            <a:srgbClr val="191919"/>
          </a:solidFill>
          <a:ln w="25400">
            <a:solidFill>
              <a:srgbClr val="F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51560"/>
            <a:ext cx="2697480" cy="47548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0515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BACKEND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1664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 + Express.js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258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REST API Endpoints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28529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Business Logic Layer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4472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SteamSpy + Steam API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97880" y="2651760"/>
            <a:ext cx="137160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1051560"/>
            <a:ext cx="2697480" cy="3383280"/>
          </a:xfrm>
          <a:prstGeom prst="rect">
            <a:avLst/>
          </a:prstGeom>
          <a:solidFill>
            <a:srgbClr val="191919"/>
          </a:solidFill>
          <a:ln w="25400">
            <a:solidFill>
              <a:srgbClr val="448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051560"/>
            <a:ext cx="2697480" cy="475488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0515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72200" y="1664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MySQL on Aiven Cloud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2258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9 Normalized Tables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72200" y="28529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Views, Procedures, Triggers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72200" y="34472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Functions, Indexes, Txns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  SteamSpy Top 100 Forever API   ·   Steam Store API (parallel fetch, 10 concurrent)   ·   Cloud DB: Aiven MySQL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4572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ENTITY RELATIONSHIP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9-Table normalized schema — Game as the central entity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2057400"/>
            <a:ext cx="2103120" cy="7772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2057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GAME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1828800" cy="502920"/>
          </a:xfrm>
          <a:prstGeom prst="rect">
            <a:avLst/>
          </a:prstGeom>
          <a:solidFill>
            <a:srgbClr val="191919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1325880"/>
            <a:ext cx="1417320" cy="274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331720"/>
            <a:ext cx="1828800" cy="502920"/>
          </a:xfrm>
          <a:prstGeom prst="rect">
            <a:avLst/>
          </a:prstGeom>
          <a:solidFill>
            <a:srgbClr val="191919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2560320"/>
            <a:ext cx="1417320" cy="274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566160"/>
            <a:ext cx="1828800" cy="502920"/>
          </a:xfrm>
          <a:prstGeom prst="rect">
            <a:avLst/>
          </a:prstGeom>
          <a:solidFill>
            <a:srgbClr val="191919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GameEngine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03120" y="3794760"/>
            <a:ext cx="1417320" cy="274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1097280"/>
            <a:ext cx="1828800" cy="502920"/>
          </a:xfrm>
          <a:prstGeom prst="rect">
            <a:avLst/>
          </a:prstGeom>
          <a:solidFill>
            <a:srgbClr val="191919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1325880"/>
            <a:ext cx="1417320" cy="274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2331720"/>
            <a:ext cx="1828800" cy="502920"/>
          </a:xfrm>
          <a:prstGeom prst="rect">
            <a:avLst/>
          </a:prstGeom>
          <a:solidFill>
            <a:srgbClr val="191919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2560320"/>
            <a:ext cx="1417320" cy="274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3566160"/>
            <a:ext cx="1828800" cy="502920"/>
          </a:xfrm>
          <a:prstGeom prst="rect">
            <a:avLst/>
          </a:prstGeom>
          <a:solidFill>
            <a:srgbClr val="191919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23560" y="3794760"/>
            <a:ext cx="1417320" cy="274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1024128"/>
            <a:ext cx="2103120" cy="475488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102412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GameGenre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0" y="4069080"/>
            <a:ext cx="4023360" cy="475488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40690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GamePlatformListing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681728"/>
            <a:ext cx="201168" cy="2011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681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Entity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377440" y="4681728"/>
            <a:ext cx="201168" cy="201168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4681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PK Table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37760" y="4681728"/>
            <a:ext cx="201168" cy="201168"/>
          </a:xfrm>
          <a:prstGeom prst="rect">
            <a:avLst/>
          </a:prstGeom>
          <a:solidFill>
            <a:srgbClr val="191919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4681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Table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4572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DDL: SCHEMA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decisions, constraints, and indexing strategy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24128"/>
            <a:ext cx="4069080" cy="379476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406908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241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49961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Types: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48840" y="14996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status, tier, engine type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938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48840" y="19385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ranges 0-100, price ≥ 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3774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Flags: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48840" y="23774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is_free_to_play, has_subscription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8163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revenue_est_usd: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48840" y="28163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from copies × price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25526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dev_budget_usd: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48840" y="325526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by ownership tier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6941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copies_sold_est: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48840" y="36941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SteamSpy owners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1330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cover_image_url: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48840" y="41330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via ALTER TABLE demo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1024128"/>
            <a:ext cx="4069080" cy="182880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024128"/>
            <a:ext cx="406908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0241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5087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idx_game_title    →   Fast title search &amp; filtering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9476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idx_release_date  →   Date range queries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38658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idx_metacritic    →   Score ranking &amp; comparisons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990088"/>
            <a:ext cx="4069080" cy="1828800"/>
          </a:xfrm>
          <a:prstGeom prst="rect">
            <a:avLst/>
          </a:prstGeom>
          <a:solidFill>
            <a:srgbClr val="191919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990088"/>
            <a:ext cx="4069080" cy="365760"/>
          </a:xfrm>
          <a:prstGeom prst="rect">
            <a:avLst/>
          </a:prstGeom>
          <a:solidFill>
            <a:srgbClr val="0A1A0A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9900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Demonstration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456432"/>
            <a:ext cx="3794760" cy="45720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474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Game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COLUMN cover_image_url VARCHAR(512);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6320" y="400507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post-design schema evolution — how production databases handle new requirements without losing existing data.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4572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DML &amp; TRANSACTIONS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data operations with guaranteed referential integrity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4160520" cy="181051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731520" cy="1810512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16200000">
            <a:off x="384048" y="1325880"/>
            <a:ext cx="694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INSERT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179576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RegisterGameComplete Procedure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25296" y="1554480"/>
            <a:ext cx="310896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1645920"/>
            <a:ext cx="31821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transaction wrapping all INSERT operations. A single call registers game, developer, publisher, genres, platform listings, and DLC — or rolls back entirely on failure.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160520" cy="181051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51560"/>
            <a:ext cx="731520" cy="181051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 rot="16200000">
            <a:off x="4773168" y="1325880"/>
            <a:ext cx="694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DELETE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14416" y="1179576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Deletion Chain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14416" y="1554480"/>
            <a:ext cx="310896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14416" y="1645920"/>
            <a:ext cx="31821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game cascades through all child records in order: GameGenre → GamePlatformListing → DLC → Game. Referential integrity is preserved throughout.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044952"/>
            <a:ext cx="4160520" cy="181051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44952"/>
            <a:ext cx="731520" cy="1810512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 rot="16200000">
            <a:off x="384048" y="3319272"/>
            <a:ext cx="694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UPDATE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25296" y="317296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Post-Insert Stat Enrichment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225296" y="3547872"/>
            <a:ext cx="310896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25296" y="3639312"/>
            <a:ext cx="31821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initial insertion, calculated fields (revenue, ROI, tier score) are written back via targeted UPDATE statements to avoid circular dependency during the initial insert pass.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044952"/>
            <a:ext cx="4160520" cy="181051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044952"/>
            <a:ext cx="731520" cy="1810512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 rot="16200000">
            <a:off x="4773168" y="3319272"/>
            <a:ext cx="694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ROLLBACK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14416" y="317296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Recovery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14416" y="3547872"/>
            <a:ext cx="310896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14416" y="3639312"/>
            <a:ext cx="31821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exception in the procedure triggers an immediate ROLLBACK. The database returns to its prior state — no partial records, no orphaned foreign keys, no data corruption.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4572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VIEWS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SQL views — each wired directly to a live dashboard panel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950208"/>
        </p:xfrm>
        <a:graphic>
          <a:graphicData uri="http://schemas.openxmlformats.org/drawingml/2006/table">
            <a:tbl>
              <a:tblPr/>
              <a:tblGrid>
                <a:gridCol w="2697480"/>
                <a:gridCol w="1783080"/>
                <a:gridCol w="3931920"/>
              </a:tblGrid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Technique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GameIntelligenceSummary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(4 tables)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game inventory: developer, publisher, engine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GameROI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Scalar Function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CalculateROI() — revenue vs. budget ratio per game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AboveAverageGames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Subquery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metacritic &gt; (SELECT AVG(metacritic) FROM Game)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TopDevelopers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Correlated Subquery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AVG — developer vs. global average comparison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GenrePerformance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+ AVG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score, ROI, and revenue broken down by genre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EngineIntelligence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+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usage frequency and associated revenue stats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+ SUM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copies sold and revenue aggregated per publisher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PlatformPricingComparison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Side-by-side prices across all 5 platforms per game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DLCAnalysis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+ GROUP BY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DLC count and average DLC price per game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4572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STORED PROCEDURES &amp; FUNCTIONS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business logic executed at the database layer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8412480" cy="71323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54864" cy="71323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064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ClassifyGameTier(game_id)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across 4 dimensions: budget tier, team size, publisher tier, and estimated revenue. Outputs Indie / AA / AAA classification dynamically.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18120" y="1106424"/>
            <a:ext cx="914400" cy="237744"/>
          </a:xfrm>
          <a:prstGeom prst="rect">
            <a:avLst/>
          </a:prstGeom>
          <a:solidFill>
            <a:srgbClr val="0A0A1A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11064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1847088"/>
            <a:ext cx="8412480" cy="71323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47088"/>
            <a:ext cx="54864" cy="713232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01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GetGenreOpportunity(budget, team_size)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2128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underserved market segments matching given budget and team constraints. Returns genre opportunities ranked by average ROI and competition level.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818120" y="1901952"/>
            <a:ext cx="914400" cy="237744"/>
          </a:xfrm>
          <a:prstGeom prst="rect">
            <a:avLst/>
          </a:prstGeom>
          <a:solidFill>
            <a:srgbClr val="0A0A1A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65760" y="2642616"/>
            <a:ext cx="8412480" cy="71323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642616"/>
            <a:ext cx="54864" cy="713232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697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GetDeveloperBenchmark(name)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00837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a developer against industry peers using HAVING clause and nested AVG to isolate whether they perform above or below global averages.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818120" y="2697480"/>
            <a:ext cx="914400" cy="237744"/>
          </a:xfrm>
          <a:prstGeom prst="rect">
            <a:avLst/>
          </a:prstGeom>
          <a:solidFill>
            <a:srgbClr val="0A0A1A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2697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" y="3438144"/>
            <a:ext cx="8412480" cy="71323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438144"/>
            <a:ext cx="54864" cy="713232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8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GetDLCStrategy(genre, price)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8039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DLC monetization patterns for a target genre and price point. Returns volume, average DLC price, and top-performing titles for strategy guidance.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818120" y="3493008"/>
            <a:ext cx="914400" cy="237744"/>
          </a:xfrm>
          <a:prstGeom prst="rect">
            <a:avLst/>
          </a:prstGeom>
          <a:solidFill>
            <a:srgbClr val="0A0A1A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3493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65760" y="4233672"/>
            <a:ext cx="8412480" cy="71323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233672"/>
            <a:ext cx="54864" cy="713232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2885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CalculateROI(revenue, budget)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5994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function. DETERMINISTIC. Returns ((revenue - budget) / budget) × 100. Used in the GameROI view and rendered directly in the Intelligence Hub dashboard.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818120" y="4288536"/>
            <a:ext cx="914400" cy="237744"/>
          </a:xfrm>
          <a:prstGeom prst="rect">
            <a:avLst/>
          </a:prstGeom>
          <a:solidFill>
            <a:srgbClr val="0A1A0A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18120" y="4288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4572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TRIGGERS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integrity enforcement at the database level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4160520" cy="1783080"/>
          </a:xfrm>
          <a:prstGeom prst="rect">
            <a:avLst/>
          </a:prstGeom>
          <a:solidFill>
            <a:srgbClr val="191919"/>
          </a:solidFill>
          <a:ln w="12700">
            <a:solidFill>
              <a:srgbClr val="F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4160520" cy="420624"/>
          </a:xfrm>
          <a:prstGeom prst="rect">
            <a:avLst/>
          </a:prstGeom>
          <a:solidFill>
            <a:srgbClr val="111111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before_game_insert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1133856"/>
            <a:ext cx="1298448" cy="237744"/>
          </a:xfrm>
          <a:prstGeom prst="rect">
            <a:avLst/>
          </a:prstGeom>
          <a:solidFill>
            <a:srgbClr val="050505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13385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5488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Game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1819656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sets is_free_to_play = TRUE when price is 0. Eliminates need for application-side logic and prevents F2P misclassification at the source.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4160520" cy="1783080"/>
          </a:xfrm>
          <a:prstGeom prst="rect">
            <a:avLst/>
          </a:prstGeom>
          <a:solidFill>
            <a:srgbClr val="191919"/>
          </a:solidFill>
          <a:ln w="12700">
            <a:solidFill>
              <a:srgbClr val="448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51560"/>
            <a:ext cx="4160520" cy="420624"/>
          </a:xfrm>
          <a:prstGeom prst="rect">
            <a:avLst/>
          </a:prstGeom>
          <a:solidFill>
            <a:srgbClr val="111111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validate_metacritic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98080" y="1133856"/>
            <a:ext cx="1298448" cy="237744"/>
          </a:xfrm>
          <a:prstGeom prst="rect">
            <a:avLst/>
          </a:prstGeom>
          <a:solidFill>
            <a:srgbClr val="050505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13385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 / UPDATE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64608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Game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64608" y="1819656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score range 0–100 using SIGNAL SQLSTATE '45000'. Any attempt to insert an invalid Metacritic score raises a database-level exception and aborts the operation.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4160520" cy="1783080"/>
          </a:xfrm>
          <a:prstGeom prst="rect">
            <a:avLst/>
          </a:prstGeom>
          <a:solidFill>
            <a:srgbClr val="191919"/>
          </a:solidFill>
          <a:ln w="12700">
            <a:solidFill>
              <a:srgbClr val="44FF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017520"/>
            <a:ext cx="4160520" cy="420624"/>
          </a:xfrm>
          <a:prstGeom prst="rect">
            <a:avLst/>
          </a:prstGeom>
          <a:solidFill>
            <a:srgbClr val="111111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prevent_negative_price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0" y="3099816"/>
            <a:ext cx="1298448" cy="237744"/>
          </a:xfrm>
          <a:prstGeom prst="rect">
            <a:avLst/>
          </a:prstGeom>
          <a:solidFill>
            <a:srgbClr val="050505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09981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5488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GamePlatformListing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" y="3785616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platform listing integrity. Raises SIGNAL if price &lt; 0, preventing nonsensical pricing data from entering the cross-platform comparison table.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4160520" cy="1783080"/>
          </a:xfrm>
          <a:prstGeom prst="rect">
            <a:avLst/>
          </a:prstGeom>
          <a:solidFill>
            <a:srgbClr val="191919"/>
          </a:solidFill>
          <a:ln w="12700">
            <a:solidFill>
              <a:srgbClr val="FF88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017520"/>
            <a:ext cx="4160520" cy="420624"/>
          </a:xfrm>
          <a:prstGeom prst="rect">
            <a:avLst/>
          </a:prstGeom>
          <a:solidFill>
            <a:srgbClr val="111111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8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auto_subscription_flag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498080" y="3099816"/>
            <a:ext cx="1298448" cy="237744"/>
          </a:xfrm>
          <a:prstGeom prst="rect">
            <a:avLst/>
          </a:prstGeom>
          <a:solidFill>
            <a:srgbClr val="050505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309981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8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64608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GamePlatformListing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64608" y="3785616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subscription-based listing is inserted, automatically updates the parent Game record's has_subscription flag to TRUE via an AFTER INSERT trigger.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4572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REAL WORLD DATA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API data becomes a structured, enriched, queryable database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51560"/>
            <a:ext cx="1536192" cy="1463040"/>
          </a:xfrm>
          <a:prstGeom prst="rect">
            <a:avLst/>
          </a:prstGeom>
          <a:solidFill>
            <a:srgbClr val="191919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51560"/>
            <a:ext cx="1536192" cy="45720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515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1752" y="15727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SteamSpy API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1752" y="193852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Forever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64792" y="1709928"/>
            <a:ext cx="201168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5960" y="1051560"/>
            <a:ext cx="1536192" cy="1463040"/>
          </a:xfrm>
          <a:prstGeom prst="rect">
            <a:avLst/>
          </a:prstGeom>
          <a:solidFill>
            <a:srgbClr val="191919"/>
          </a:solidFill>
          <a:ln w="25400">
            <a:solidFill>
              <a:srgbClr val="448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1051560"/>
            <a:ext cx="1536192" cy="457200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10515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39112" y="15727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Store API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39112" y="193852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fetch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concurrent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502152" y="1709928"/>
            <a:ext cx="201168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03320" y="1051560"/>
            <a:ext cx="1536192" cy="1463040"/>
          </a:xfrm>
          <a:prstGeom prst="rect">
            <a:avLst/>
          </a:prstGeom>
          <a:solidFill>
            <a:srgbClr val="191919"/>
          </a:solidFill>
          <a:ln w="25400">
            <a:solidFill>
              <a:srgbClr val="44FF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03320" y="1051560"/>
            <a:ext cx="1536192" cy="457200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10515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76472" y="15727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76472" y="193852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tiered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owner count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239512" y="1709928"/>
            <a:ext cx="201168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40680" y="1051560"/>
            <a:ext cx="1536192" cy="1463040"/>
          </a:xfrm>
          <a:prstGeom prst="rect">
            <a:avLst/>
          </a:prstGeom>
          <a:solidFill>
            <a:srgbClr val="191919"/>
          </a:solidFill>
          <a:ln w="25400">
            <a:solidFill>
              <a:srgbClr val="FF88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0680" y="1051560"/>
            <a:ext cx="1536192" cy="457200"/>
          </a:xfrm>
          <a:prstGeom prst="rect">
            <a:avLst/>
          </a:prstGeom>
          <a:solidFill>
            <a:srgbClr val="FF8844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10515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13832" y="15727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Est.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13832" y="193852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copies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threshold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76872" y="1709928"/>
            <a:ext cx="201168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78040" y="1051560"/>
            <a:ext cx="1536192" cy="1463040"/>
          </a:xfrm>
          <a:prstGeom prst="rect">
            <a:avLst/>
          </a:prstGeom>
          <a:solidFill>
            <a:srgbClr val="191919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78040" y="1051560"/>
            <a:ext cx="1536192" cy="45720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10515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05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251192" y="1572768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Population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51192" y="193852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platform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auto-gen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2697480"/>
            <a:ext cx="841248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697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Budget Estimation Logic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063240"/>
            <a:ext cx="4160520" cy="53035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063240"/>
            <a:ext cx="45720" cy="530352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0998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Games: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3337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by owner count: &lt;1M, 1M–5M, &gt;5M owner brackets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3063240"/>
            <a:ext cx="4160520" cy="53035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3063240"/>
            <a:ext cx="45720" cy="530352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0998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Games: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00600" y="3337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effective price × estimated copies sold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3685032"/>
            <a:ext cx="4160520" cy="53035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3685032"/>
            <a:ext cx="45720" cy="530352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7216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Pre-2010: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02920" y="39593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effective price × $8 flat rate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3685032"/>
            <a:ext cx="4160520" cy="530352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3685032"/>
            <a:ext cx="45720" cy="530352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37216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Tiers: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800600" y="39593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(&lt;50K), AA (50K–1M), AAA (&gt;1M copies sold)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4572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DASHBOARD WALKTHROUGH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live web dashboard — all SQL executed in real time via the API layer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24128"/>
            <a:ext cx="4160520" cy="1810512"/>
          </a:xfrm>
          <a:prstGeom prst="rect">
            <a:avLst/>
          </a:prstGeom>
          <a:solidFill>
            <a:srgbClr val="191919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41605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2412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Dashboard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4996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game stats &amp; cover art grid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Search filter across title / genre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1579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Direct DELETE with cascade chain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count refresh on action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024128"/>
            <a:ext cx="4160520" cy="1810512"/>
          </a:xfrm>
          <a:prstGeom prst="rect">
            <a:avLst/>
          </a:prstGeom>
          <a:solidFill>
            <a:srgbClr val="191919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024128"/>
            <a:ext cx="41605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02412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Intelligence Hub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996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ROI table via GameROI view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Above-average performers panel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1579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Engine / Genre / Publisher breakdown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24871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Platform pricing comparison table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4160520" cy="1810512"/>
          </a:xfrm>
          <a:prstGeom prst="rect">
            <a:avLst/>
          </a:prstGeom>
          <a:solidFill>
            <a:srgbClr val="191919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017520"/>
            <a:ext cx="41605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1752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Tier Classifier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4930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Input: game_id from dropdown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8221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Calls ClassifyGameTier() live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1513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Shows 4-dimension score breakdown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4480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Returns: Indie / AA / AAA badge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4160520" cy="1810512"/>
          </a:xfrm>
          <a:prstGeom prst="rect">
            <a:avLst/>
          </a:prstGeom>
          <a:solidFill>
            <a:srgbClr val="191919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017520"/>
            <a:ext cx="41605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FF88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01752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8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Atomic Registration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4930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form: game + all relations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38221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Calls RegisterGameComplete()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41513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COMMIT or ROLLBACK display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44805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Confirms insertion in live DB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4572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KEY QUERIES &amp;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SQL powering OBSYRIA's intelligence panels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2724912" cy="3886200"/>
          </a:xfrm>
          <a:prstGeom prst="rect">
            <a:avLst/>
          </a:prstGeom>
          <a:solidFill>
            <a:srgbClr val="191919"/>
          </a:solidFill>
          <a:ln w="12700">
            <a:solidFill>
              <a:srgbClr val="44FF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24128"/>
            <a:ext cx="2724912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2412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Scalar Function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463040"/>
            <a:ext cx="2542032" cy="201168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08760"/>
            <a:ext cx="2450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g.title,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CalculateROI(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g.revenue_est_usd,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g.dev_budget_usd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AS roi_pct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Game g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roi_pct DESC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3547872"/>
            <a:ext cx="45720" cy="1188720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3566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4F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" y="38587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 2  →  12,400%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  →  8,900%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Myth: Wukong  →  1,240%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72968" y="1024128"/>
            <a:ext cx="2724912" cy="3886200"/>
          </a:xfrm>
          <a:prstGeom prst="rect">
            <a:avLst/>
          </a:prstGeom>
          <a:solidFill>
            <a:srgbClr val="191919"/>
          </a:solidFill>
          <a:ln w="12700">
            <a:solidFill>
              <a:srgbClr val="F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024128"/>
            <a:ext cx="2724912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102412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ClassifyGameTier Output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64408" y="1463040"/>
            <a:ext cx="2542032" cy="201168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508760"/>
            <a:ext cx="2450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ClassifyGameTier(42);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Weighted Breakdown: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Budget Score:    35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Team Score:      20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Publisher Score: 25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Revenue Score:   30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Total: 110 → AAA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64408" y="3547872"/>
            <a:ext cx="45720" cy="1188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3566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74136" y="38587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100  →  AAA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50–99  →  AA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50   →  Indie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25896" y="1024128"/>
            <a:ext cx="2724912" cy="3886200"/>
          </a:xfrm>
          <a:prstGeom prst="rect">
            <a:avLst/>
          </a:prstGeom>
          <a:solidFill>
            <a:srgbClr val="191919"/>
          </a:solidFill>
          <a:ln w="12700">
            <a:solidFill>
              <a:srgbClr val="448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25896" y="1024128"/>
            <a:ext cx="2724912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17336" y="102412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Subquery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1463040"/>
            <a:ext cx="2542032" cy="201168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1508760"/>
            <a:ext cx="2450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title,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metacritic_score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Game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metacritic_score &gt; (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AVG(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metacritic_score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FROM Game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17336" y="3547872"/>
            <a:ext cx="45720" cy="1188720"/>
          </a:xfrm>
          <a:prstGeom prst="rect">
            <a:avLst/>
          </a:prstGeom>
          <a:solidFill>
            <a:srgbClr val="4488FF"/>
          </a:solidFill>
          <a:ln w="12700">
            <a:solidFill>
              <a:srgbClr val="448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27064" y="3566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4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27064" y="38587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score: 74.3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of 100 games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average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4572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RUBRIC COVERAGE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SQL requirements fully implemented and live in the system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977640"/>
        </p:xfrm>
        <a:graphic>
          <a:graphicData uri="http://schemas.openxmlformats.org/drawingml/2006/table">
            <a:tbl>
              <a:tblPr/>
              <a:tblGrid>
                <a:gridCol w="1325880"/>
                <a:gridCol w="4069080"/>
                <a:gridCol w="3017520"/>
              </a:tblGrid>
              <a:tr h="361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in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DDL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TABLE, ALTER TABLE, ENUM, CHECK constraints, indexes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schema — setup.sql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DML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INSERT, UPDATE, DELETE — encapsulated in stored procedure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RegisterGameComplete(),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Joins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Multi-table joins across 4+ tables in views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GameIntelligenceSummary 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Subqueries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Scalar + correlated subqueries embedded in views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AboveAverageGames, TopDevelopers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Views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views — each mapped to a specific dashboard panel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 Hub 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Stored Procedures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procedures — register, classify, benchmark, DLC strategy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Classifier, Registration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Functions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CalculateROI() — DETERMINISTIC scalar SQL function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GameROI view, Intelligence Hub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Triggers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triggers — validation, F2P auto-flag, subscription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trigger 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Transactions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/ ROLLBACK in RegisterGameComplete()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Registration 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361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4F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Indexing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indexes: idx_game_title, idx_release_date, idx_metacritic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schema — idx_* columns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54864" cy="448056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822960"/>
            <a:ext cx="1920240" cy="82296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822960"/>
            <a:ext cx="192024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8778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Games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88920" y="822960"/>
            <a:ext cx="1920240" cy="82296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822960"/>
            <a:ext cx="192024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8778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788920" y="1371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822960"/>
            <a:ext cx="1920240" cy="82296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822960"/>
            <a:ext cx="192024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8778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892040" y="1371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95160" y="822960"/>
            <a:ext cx="1920240" cy="82296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95160" y="822960"/>
            <a:ext cx="192024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8778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95160" y="1371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1828800"/>
            <a:ext cx="1920240" cy="82296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1828800"/>
            <a:ext cx="192024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18836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85800" y="2377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88920" y="1828800"/>
            <a:ext cx="1920240" cy="82296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88920" y="1828800"/>
            <a:ext cx="192024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18836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2788920" y="2377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1828800"/>
            <a:ext cx="1920240" cy="82296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1828800"/>
            <a:ext cx="192024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8836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4892040" y="2377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95160" y="1828800"/>
            <a:ext cx="1920240" cy="822960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95160" y="1828800"/>
            <a:ext cx="192024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18836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995160" y="2377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292608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017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85800" y="3511296"/>
            <a:ext cx="45720" cy="274320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3456432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Metacritic API integration for live review score updates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37760" y="3511296"/>
            <a:ext cx="45720" cy="274320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02352" y="3456432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and personalized game watchlists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5800" y="3986784"/>
            <a:ext cx="45720" cy="274320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" y="393192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CSV / PDF for analyst reporting workflows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37760" y="3986784"/>
            <a:ext cx="45720" cy="274320"/>
          </a:xfrm>
          <a:prstGeom prst="rect">
            <a:avLst/>
          </a:prstGeom>
          <a:solidFill>
            <a:srgbClr val="44FF44"/>
          </a:solidFill>
          <a:ln w="12700">
            <a:solidFill>
              <a:srgbClr val="44FF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02352" y="393192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pipeline refresh via cron job scheduler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OBSYRIA — Real data. Real SQL. Real intelligence.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OBSYRIA - Video Game Market Intelligence System</dc:title>
  <dc:subject>PptxGenJS Presentation</dc:subject>
  <dc:creator>PptxGenJS</dc:creator>
  <cp:lastModifiedBy>PptxGenJS</cp:lastModifiedBy>
  <cp:revision>1</cp:revision>
  <dcterms:created xsi:type="dcterms:W3CDTF">2026-05-05T17:57:14Z</dcterms:created>
  <dcterms:modified xsi:type="dcterms:W3CDTF">2026-05-05T17:57:14Z</dcterms:modified>
</cp:coreProperties>
</file>